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C20000"/>
                </a:solidFill>
                <a:latin typeface="Aptos"/>
              </a:rPr>
              <a:t>Data Structures and Algorithms - 3</a:t>
            </a:r>
            <a:br/>
            <a:r>
              <a:rPr sz="3000" b="1">
                <a:solidFill>
                  <a:srgbClr val="C20000"/>
                </a:solidFill>
                <a:latin typeface="Aptos"/>
              </a:rPr>
              <a:t>(25CS2103E)</a:t>
            </a:r>
            <a:br/>
            <a:br/>
            <a:r>
              <a:rPr sz="3000" b="1">
                <a:solidFill>
                  <a:srgbClr val="C20000"/>
                </a:solidFill>
                <a:latin typeface="Aptos"/>
              </a:rPr>
              <a:t>Repeated Substring Detection in Large Documents</a:t>
            </a:r>
            <a:br/>
            <a:r>
              <a:rPr sz="3000" b="1">
                <a:solidFill>
                  <a:srgbClr val="C20000"/>
                </a:solidFill>
                <a:latin typeface="Aptos"/>
              </a:rPr>
              <a:t>Using Suffix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 wrap="square"/>
          <a:lstStyle/>
          <a:p>
            <a:pPr algn="ctr"/>
            <a:r>
              <a:rPr sz="1600" b="0">
                <a:solidFill>
                  <a:srgbClr val="0069B4"/>
                </a:solidFill>
                <a:latin typeface="Aptos"/>
              </a:rPr>
              <a:t>Team Members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KUDUMULA ASHISH IGNATIUS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NARAYANAGARI PRUDVIRAJ GOUD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KOLASANI NAVADEEP</a:t>
            </a:r>
            <a:br/>
            <a:br/>
            <a:r>
              <a:rPr sz="1600" b="0">
                <a:solidFill>
                  <a:srgbClr val="0069B4"/>
                </a:solidFill>
                <a:latin typeface="Aptos"/>
              </a:rPr>
              <a:t>Roll Numbers: 2520030273, 2520030227, 2520030042</a:t>
            </a:r>
            <a:br/>
            <a:br/>
            <a:r>
              <a:rPr sz="1600" b="0">
                <a:solidFill>
                  <a:srgbClr val="0069B4"/>
                </a:solidFill>
                <a:latin typeface="Aptos"/>
              </a:rPr>
              <a:t>Under the Esteemed Guidance of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D. SWATHI, Assistant 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200" b="0">
                <a:solidFill>
                  <a:srgbClr val="232A32"/>
                </a:solidFill>
                <a:latin typeface="Aptos"/>
              </a:rPr>
              <a:t>1. Abstract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2. Introduction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3. Literature Survey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4. Problem Statement &amp; Objectives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5. Flow Chart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6. Results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7. Hardware &amp; Software Requirements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8. Conclusion</a:t>
            </a:r>
            <a:br/>
            <a:r>
              <a:rPr sz="2200" b="0">
                <a:solidFill>
                  <a:srgbClr val="232A32"/>
                </a:solidFill>
                <a:latin typeface="Aptos"/>
              </a:rPr>
              <a:t>9.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486400"/>
            <a:ext cx="6583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5486400"/>
            <a:ext cx="73152" cy="685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5596128"/>
            <a:ext cx="6309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069B4"/>
                </a:solidFill>
                <a:latin typeface="Aptos"/>
              </a:rPr>
              <a:t>Project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5989320"/>
            <a:ext cx="6309360" cy="9143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Interactive web analyzer for repeated substring detection using Suffix Array + LCP.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20574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C20000"/>
                </a:solidFill>
                <a:latin typeface="Aptos"/>
              </a:rPr>
              <a:t>Problem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507492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Finding repeated phrases in large documents by checking many possible substrings becomes expensive as input size grows. The project demonstrates a data-structure based solution for faster pattern discovery.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349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73152" cy="20574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507492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The website builds a Suffix Array, constructs the Longest Common Prefix (LCP) array with Kasai’s algorithm, and scans LCP values to identify repeated substrings and the longest repeated substring.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4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20440"/>
            <a:ext cx="73152" cy="196596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630168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Interactive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507492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Users can paste text, load academic/DNA/literature presets, or upload .txt/.md/.csv/.log/.fasta files. Minimum length, result count and maximal-pattern filters are configurable.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2044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20440"/>
            <a:ext cx="73152" cy="196596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630168"/>
            <a:ext cx="507492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C20000"/>
                </a:solidFill>
                <a:latin typeface="Aptos"/>
              </a:rPr>
              <a:t>Demonstration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4023360"/>
            <a:ext cx="507492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The dashboard reports document size, suffix count, repeated patterns, longest repeated pattern, occurrences, execution time, LCP visualization and a benchmark against a naïve search.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C20000"/>
                </a:solidFill>
                <a:latin typeface="Aptos"/>
              </a:rPr>
              <a:t>Why repeated substring detection?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937760" cy="34747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Repeated substring detection is useful in text compression, data deduplication, plagiarism detection and genome sequence analysis.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A suffix array stores starting indices of all suffixes in lexicographically sorted order.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The LCP array stores common-prefix lengths between adjacent sorted suffixes.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• High LCP values reveal repeated patterns without comparing every substring 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23444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1234440"/>
            <a:ext cx="73152" cy="141732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344168"/>
            <a:ext cx="48920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69B4"/>
                </a:solidFill>
                <a:latin typeface="Aptos"/>
              </a:rPr>
              <a:t>Website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737360"/>
            <a:ext cx="489204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Input Text → Suffix Array → LCP Array → Repeated Pattern Detection → Results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88036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2880360"/>
            <a:ext cx="73152" cy="141732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2990088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0069B4"/>
                </a:solidFill>
                <a:latin typeface="Aptos"/>
              </a:rPr>
              <a:t>Suffix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3383280"/>
            <a:ext cx="214884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Sorted suffix starting indices</a:t>
            </a:r>
            <a:br/>
            <a:r>
              <a:rPr sz="1400" b="0">
                <a:solidFill>
                  <a:srgbClr val="232A32"/>
                </a:solidFill>
                <a:latin typeface="Aptos"/>
              </a:rPr>
              <a:t>Prefix-doubling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88036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2880360"/>
            <a:ext cx="73152" cy="141732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2990088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0000"/>
                </a:solidFill>
                <a:latin typeface="Aptos"/>
              </a:rPr>
              <a:t>LCP / Kasai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3383280"/>
            <a:ext cx="214884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Adjacent common-prefix lengths</a:t>
            </a:r>
            <a:br/>
            <a:r>
              <a:rPr sz="1400" b="0">
                <a:solidFill>
                  <a:srgbClr val="232A32"/>
                </a:solidFill>
                <a:latin typeface="Aptos"/>
              </a:rPr>
              <a:t>Linear LCP construction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5720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4572000"/>
            <a:ext cx="73152" cy="109728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4681728"/>
            <a:ext cx="489204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228B5E"/>
                </a:solidFill>
                <a:latin typeface="Aptos"/>
              </a:rP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5074920"/>
            <a:ext cx="4892040" cy="5029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Search/filter results • upload files • export CSV • view suffix/LCP table • benchmark execution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C20000"/>
                </a:solidFill>
                <a:latin typeface="Aptos"/>
              </a:rPr>
              <a:t>Naïve Substring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498348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The project’s built-in baseline checks candidate substrings iteratively and tests recurrence. The supplied academic sample describes the naïve approach as O(n²) to O(n³), becoming costly for larger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Suffix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498348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The project uses a sorted collection of suffix starting positions. The JavaScript implementation applies prefix doubling (Manber–Myers style) and repeatedly refines suffix ranks.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3756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4728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LCP with Kasai’s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840480"/>
            <a:ext cx="498348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Kasai’s algorithm constructs the LCP array in O(n). Each LCP value represents the longest common prefix between adjacent suffixes in suffix-array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3756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337560"/>
            <a:ext cx="73152" cy="18288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44728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228B5E"/>
                </a:solidFill>
                <a:latin typeface="Aptos"/>
              </a:rPr>
              <a:t>Project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840480"/>
            <a:ext cx="498348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The website runs the Suffix Array + LCP pipeline and the naïve baseline, measures execution time with performance.now(), and presents both in a benchmark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C646E"/>
                </a:solidFill>
                <a:latin typeface="Aptos"/>
              </a:rPr>
              <a:t>Source concepts used by the supplied project: Udi Manber &amp; Gene Myers (suffix arrays) and Kasai’s LCP construction.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Problem Statement and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C20000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50292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Develop an interactive browser-based system that can analyze a text document and efficiently identify repeated substrings, their occurrence positions and the longest repeated substring.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69B4"/>
                </a:solidFill>
                <a:latin typeface="Aptos"/>
              </a:rPr>
              <a:t>Objective 1 — Core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50292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Implement Suffix Array construction, LCP construction using Kasai’s algorithm, and repeated-substring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3756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47288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69B4"/>
                </a:solidFill>
                <a:latin typeface="Aptos"/>
              </a:rPr>
              <a:t>Objective 2 — 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840480"/>
            <a:ext cx="50292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Provide presets, file upload, configurable minimum substring length, maximum results and maximal-pattern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375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337560"/>
            <a:ext cx="73152" cy="18288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447288"/>
            <a:ext cx="502920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28B5E"/>
                </a:solidFill>
                <a:latin typeface="Aptos"/>
              </a:rPr>
              <a:t>Objective 3 —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840480"/>
            <a:ext cx="502920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Visualize suffix/LCP data and compare execution time against the naïve repeated-substring search.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700" b="1">
                <a:solidFill>
                  <a:srgbClr val="C20000"/>
                </a:solidFill>
                <a:latin typeface="Aptos"/>
              </a:rPr>
              <a:t>Key outcome: turn DSA concepts into a working, demonstrable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30759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1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Enter / Upload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3444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30759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2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Validate Input &amp;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30759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3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Build Suffix Array</a:t>
            </a:r>
            <a:br/>
            <a:r>
              <a:rPr sz="1300" b="1">
                <a:solidFill>
                  <a:srgbClr val="232A32"/>
                </a:solidFill>
                <a:latin typeface="Aptos"/>
              </a:rPr>
              <a:t>(Prefix Doubling)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23444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30759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4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Build LCP Array</a:t>
            </a:r>
            <a:br/>
            <a:r>
              <a:rPr sz="1300" b="1">
                <a:solidFill>
                  <a:srgbClr val="232A32"/>
                </a:solidFill>
                <a:latin typeface="Aptos"/>
              </a:rPr>
              <a:t>(Kasai O(n))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24612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331927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5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Scan LCP &amp; Extract</a:t>
            </a:r>
            <a:br/>
            <a:r>
              <a:rPr sz="1300" b="1">
                <a:solidFill>
                  <a:srgbClr val="232A32"/>
                </a:solidFill>
                <a:latin typeface="Aptos"/>
              </a:rPr>
              <a:t>Repeated Substrings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31927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6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Find Longest Repeated</a:t>
            </a:r>
            <a:br/>
            <a:r>
              <a:rPr sz="1300" b="1">
                <a:solidFill>
                  <a:srgbClr val="232A32"/>
                </a:solidFill>
                <a:latin typeface="Aptos"/>
              </a:rPr>
              <a:t>Substring +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24612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31927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7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Run Naïve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224028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319272"/>
            <a:ext cx="20939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20000"/>
                </a:solidFill>
                <a:latin typeface="Aptos"/>
              </a:rPr>
              <a:t>8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Aptos"/>
              </a:rPr>
              <a:t>Display Dashboard</a:t>
            </a:r>
            <a:br/>
            <a:r>
              <a:rPr sz="1300" b="1">
                <a:solidFill>
                  <a:srgbClr val="232A32"/>
                </a:solidFill>
                <a:latin typeface="Aptos"/>
              </a:rPr>
              <a:t>LCP View &amp; Results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176022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15000" y="176022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176022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72700" y="2286000"/>
            <a:ext cx="0" cy="96012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503920" y="377190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715000" y="377190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26080" y="3771900"/>
            <a:ext cx="548640" cy="0"/>
          </a:xfrm>
          <a:prstGeom prst="line">
            <a:avLst/>
          </a:prstGeom>
          <a:ln w="2540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69B4"/>
                </a:solidFill>
                <a:latin typeface="Aptos"/>
              </a:rPr>
              <a:t>Pipeline: Input → Suffix Structures → Pattern Detection → Benchmark →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5C646E"/>
                </a:solidFill>
                <a:latin typeface="Aptos"/>
              </a:rPr>
              <a:t>The supplied website produces an interactive results dashboard after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1430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069B4"/>
                </a:solidFill>
                <a:latin typeface="Aptos"/>
              </a:rPr>
              <a:t>Document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03120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Total Characters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143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992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0000"/>
                </a:solidFill>
                <a:latin typeface="Aptos"/>
              </a:rPr>
              <a:t>Suffix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03120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Total Suffixes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73152" cy="11430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70992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069B4"/>
                </a:solidFill>
                <a:latin typeface="Aptos"/>
              </a:rPr>
              <a:t>Pattern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103120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Repeated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175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017520"/>
            <a:ext cx="73152" cy="1143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2724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0000"/>
                </a:solidFill>
                <a:latin typeface="Aptos"/>
              </a:rPr>
              <a:t>LRS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20439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Longest Repeated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175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017520"/>
            <a:ext cx="73152" cy="11430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12724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228B5E"/>
                </a:solidFill>
                <a:latin typeface="Aptos"/>
              </a:rPr>
              <a:t>Occurrences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520439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Total Occurrences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0175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017520"/>
            <a:ext cx="73152" cy="11430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3127248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0069B4"/>
                </a:solidFill>
                <a:latin typeface="Aptos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520439"/>
            <a:ext cx="315468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232A32"/>
                </a:solidFill>
                <a:latin typeface="Aptos"/>
              </a:rPr>
              <a:t>SA Execution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617720"/>
            <a:ext cx="73152" cy="132588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72744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0000"/>
                </a:solidFill>
                <a:latin typeface="Aptos"/>
              </a:rPr>
              <a:t>Detected Repeated Substrings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120640"/>
            <a:ext cx="4983480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Table columns: repeated substring, length, occurrences and 0-indexed positions. Includes search filtering and CSV export.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17720"/>
            <a:ext cx="5257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617720"/>
            <a:ext cx="73152" cy="132588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727448"/>
            <a:ext cx="498348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0069B4"/>
                </a:solidFill>
                <a:latin typeface="Aptos"/>
              </a:rPr>
              <a:t>LCP + Performance 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120640"/>
            <a:ext cx="4983480" cy="73151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Shows sorted suffixes, suffix positions, suffix previews, LCP values, plus Suffix Array + LCP versus naïve execution time.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5272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645920"/>
            <a:ext cx="49377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• Laptop/Desktop computer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Keyboard and mouse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Minimum 4 GB RAM recommended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Modern processor capable of running a web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73152" cy="18288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5272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C20000"/>
                </a:solidFill>
                <a:latin typeface="Aptos"/>
              </a:rPr>
              <a:t>Software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49377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• HTML5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CSS3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JavaScript (ES6+)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Modern browser such as Chrome / Edge</a:t>
            </a:r>
            <a:br/>
            <a:r>
              <a:rPr sz="1600" b="0">
                <a:solidFill>
                  <a:srgbClr val="232A32"/>
                </a:solidFill>
                <a:latin typeface="Aptos"/>
              </a:rPr>
              <a:t>• No server or database is required by the supplied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73152" cy="18288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9300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228B5E"/>
                </a:solidFill>
                <a:latin typeface="Aptos"/>
              </a:rPr>
              <a:t>Project UI /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886200"/>
            <a:ext cx="49377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• Inter and JetBrains Mono fonts</a:t>
            </a:r>
            <a:br/>
            <a:r>
              <a:rPr sz="1500" b="0">
                <a:solidFill>
                  <a:srgbClr val="232A32"/>
                </a:solidFill>
                <a:latin typeface="Aptos"/>
              </a:rPr>
              <a:t>• Academic Navy &amp; Cyan visual system in the website</a:t>
            </a:r>
            <a:br/>
            <a:r>
              <a:rPr sz="1500" b="0">
                <a:solidFill>
                  <a:srgbClr val="232A32"/>
                </a:solidFill>
                <a:latin typeface="Aptos"/>
              </a:rPr>
              <a:t>• Responsive dashboard layout</a:t>
            </a:r>
            <a:br/>
            <a:r>
              <a:rPr sz="1500" b="0">
                <a:solidFill>
                  <a:srgbClr val="232A32"/>
                </a:solidFill>
                <a:latin typeface="Aptos"/>
              </a:rPr>
              <a:t>• Local browser processing of input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383280"/>
            <a:ext cx="73152" cy="182880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49300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900" b="1">
                <a:solidFill>
                  <a:srgbClr val="0069B4"/>
                </a:solidFill>
                <a:latin typeface="Aptos"/>
              </a:rPr>
              <a:t>Supported Input /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886200"/>
            <a:ext cx="4937760" cy="1234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Input: typed/pasted text or .txt, .md, .csv, .log, .fasta files.</a:t>
            </a:r>
            <a:br/>
            <a:r>
              <a:rPr sz="1500" b="0">
                <a:solidFill>
                  <a:srgbClr val="232A32"/>
                </a:solidFill>
                <a:latin typeface="Aptos"/>
              </a:rPr>
              <a:t>Output: repeated-pattern table, LCP visualization, performance comparison and CSV export.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474720"/>
          </a:xfrm>
          <a:prstGeom prst="rect">
            <a:avLst/>
          </a:prstGeom>
          <a:noFill/>
        </p:spPr>
        <p:txBody>
          <a:bodyPr wrap="square" lIns="73152" rIns="45720" tIns="36576" b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• The project demonstrates how Suffix Arrays and LCP arrays can be applied to repeated substring detection in documents.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• The implementation uses prefix doubling for the Suffix Array and Kasai’s algorithm for the LCP array.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• The browser interface makes the algorithms observable through tables, filters, visualizations and performance measurements.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• The naïve search is included as a baseline so the practical benefit of suffix-based processing can be demonstrated.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4846320"/>
            <a:ext cx="9144000" cy="9144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0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5029200"/>
            <a:ext cx="8778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069B4"/>
                </a:solidFill>
                <a:latin typeface="Aptos"/>
              </a:rPr>
              <a:t>Outcome: a complete DSA-3 demonstration that connects algorithm design, implementation and interactive visualization.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5272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69B4"/>
                </a:solidFill>
                <a:latin typeface="Aptos"/>
              </a:rPr>
              <a:t>1. Larger Document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9377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Optimize suffix-array construction and memory usage for much larger text collections.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73152" cy="141732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5272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C20000"/>
                </a:solidFill>
                <a:latin typeface="Aptos"/>
              </a:rPr>
              <a:t>2. Advanced 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645920"/>
            <a:ext cx="49377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Add faster pattern-query operations and richer substring clustering using the suffix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41732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9008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228B5E"/>
                </a:solidFill>
                <a:latin typeface="Aptos"/>
              </a:rPr>
              <a:t>3. More File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383280"/>
            <a:ext cx="49377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Extend document ingestion beyond the currently supported text-oriented formats.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80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880360"/>
            <a:ext cx="73152" cy="1417320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99008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069B4"/>
                </a:solidFill>
                <a:latin typeface="Aptos"/>
              </a:rPr>
              <a:t>4. Visualization Enhancements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383280"/>
            <a:ext cx="49377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Add interactive suffix-tree/array diagrams, highlighted occurrences and richer performance charts.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17720"/>
            <a:ext cx="73152" cy="1143000"/>
          </a:xfrm>
          <a:prstGeom prst="rect">
            <a:avLst/>
          </a:prstGeom>
          <a:solidFill>
            <a:srgbClr val="C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72744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C20000"/>
                </a:solidFill>
                <a:latin typeface="Aptos"/>
              </a:rPr>
              <a:t>5. Research / NLP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120640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Combine repeated-pattern detection with document similarity, plagiarism analysis or bioinformatics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617720"/>
            <a:ext cx="73152" cy="11430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727448"/>
            <a:ext cx="49377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228B5E"/>
                </a:solidFill>
                <a:latin typeface="Aptos"/>
              </a:rPr>
              <a:t>6.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5120640"/>
            <a:ext cx="4937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232A32"/>
                </a:solidFill>
                <a:latin typeface="Aptos"/>
              </a:rPr>
              <a:t>Package the analyzer as a hosted web application with optional server-side processing for large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200" b="1">
                <a:solidFill>
                  <a:srgbClr val="C20000"/>
                </a:solidFill>
                <a:latin typeface="Aptos"/>
              </a:rPr>
              <a:t>Thank You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43200" y="4160520"/>
            <a:ext cx="576072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600" b="1">
                <a:solidFill>
                  <a:srgbClr val="0069B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892040"/>
            <a:ext cx="66751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C646E"/>
                </a:solidFill>
                <a:latin typeface="Aptos"/>
              </a:rPr>
              <a:t>Repeated Substring Detection in Large Documents Using Suffix Structures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